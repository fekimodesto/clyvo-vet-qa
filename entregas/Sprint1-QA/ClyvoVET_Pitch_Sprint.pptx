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5486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spc="4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CLYVO VET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Saúde Contínua para Pets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2011680"/>
            <a:ext cx="2743200" cy="36576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1945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FIAP 2026 — Sprint 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e Desenvolvimento de Sistemas | 2º Ano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200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35204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Enrico Delesporte - RM565760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Felipe Modesto - RM561810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Vitor Dias - RM565422</a:t>
            </a:r>
            <a:endParaRPr lang="en-US" sz="13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7498080" y="457200"/>
            <a:ext cx="1188720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tutores de pets deixam a saúde do animal para segundo plano?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1325880"/>
            <a:ext cx="2651760" cy="33832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325880"/>
            <a:ext cx="265176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4630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Baixa Recorrência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2011680"/>
            <a:ext cx="2377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tutor só leva o pet à clínica em urgências ou vacinações obrigatórias. Consultas preventivas são esquecidas.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200400" y="1325880"/>
            <a:ext cx="2651760" cy="33832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00400" y="1325880"/>
            <a:ext cx="265176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0" name="Text 8"/>
          <p:cNvSpPr/>
          <p:nvPr/>
        </p:nvSpPr>
        <p:spPr>
          <a:xfrm>
            <a:off x="3337560" y="14630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Vínculo Fraco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337560" y="2011680"/>
            <a:ext cx="2377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histórico longitudinal, cada visita começa do zero. A clínica perde a oportunidade de acompanhar o pet ao longo da vida.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035040" y="1325880"/>
            <a:ext cx="2651760" cy="33832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035040" y="1325880"/>
            <a:ext cx="265176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4" name="Text 12"/>
          <p:cNvSpPr/>
          <p:nvPr/>
        </p:nvSpPr>
        <p:spPr>
          <a:xfrm>
            <a:off x="6172200" y="14630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LTV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172200" y="2011680"/>
            <a:ext cx="2377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Oportunidades de retorno, check-up e adesão terapêutica são perdidas. O lifetime value por animal permanece baixo.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comum no mercado de saúde animal, não exclusivo da Clyvo.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&amp; Estatísticas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mercado pet brasileiro em números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1371600"/>
            <a:ext cx="1920240" cy="329184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508760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65760" y="22860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R$ 68 bi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365760" y="3017520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Faturamento do mercado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 brasileiro em 2023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2514600" y="1371600"/>
            <a:ext cx="1920240" cy="329184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4680" y="1508760"/>
            <a:ext cx="640080" cy="6400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514600" y="22860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67,9 mi</a:t>
            </a:r>
            <a:endParaRPr lang="en-US" sz="2200" dirty="0"/>
          </a:p>
        </p:txBody>
      </p:sp>
      <p:sp>
        <p:nvSpPr>
          <p:cNvPr id="11" name="Text 7"/>
          <p:cNvSpPr/>
          <p:nvPr/>
        </p:nvSpPr>
        <p:spPr>
          <a:xfrm>
            <a:off x="2514600" y="3017520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Pets no Brasil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(maior do mundo)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4663440" y="1371600"/>
            <a:ext cx="1920240" cy="329184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0" y="1508760"/>
            <a:ext cx="640080" cy="6400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63440" y="22860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30%</a:t>
            </a:r>
            <a:endParaRPr lang="en-US" sz="2200" dirty="0"/>
          </a:p>
        </p:txBody>
      </p:sp>
      <p:sp>
        <p:nvSpPr>
          <p:cNvPr id="15" name="Text 10"/>
          <p:cNvSpPr/>
          <p:nvPr/>
        </p:nvSpPr>
        <p:spPr>
          <a:xfrm>
            <a:off x="4663440" y="3017520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Tutores com consultas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preventivas regulares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6812280" y="1371600"/>
            <a:ext cx="1920240" cy="329184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0" y="1508760"/>
            <a:ext cx="640080" cy="64008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812280" y="22860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3,2x</a:t>
            </a:r>
            <a:endParaRPr lang="en-US" sz="2200" dirty="0"/>
          </a:p>
        </p:txBody>
      </p:sp>
      <p:sp>
        <p:nvSpPr>
          <p:cNvPr id="19" name="Text 13"/>
          <p:cNvSpPr/>
          <p:nvPr/>
        </p:nvSpPr>
        <p:spPr>
          <a:xfrm>
            <a:off x="6812280" y="3017520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maior em clientes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plano de saúde</a:t>
            </a:r>
            <a:endParaRPr lang="en-US" sz="1100" dirty="0"/>
          </a:p>
        </p:txBody>
      </p:sp>
      <p:sp>
        <p:nvSpPr>
          <p:cNvPr id="20" name="Text 14"/>
          <p:cNvSpPr/>
          <p:nvPr/>
        </p:nvSpPr>
        <p:spPr>
          <a:xfrm>
            <a:off x="457200" y="4846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Fontes: ABINPET 2023 | IBGE | Pesquisa VetBrasil 2022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 Proposta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Evolução da plataforma Clyvo VET com duas novas funcionalidades integradas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1325880"/>
            <a:ext cx="384048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325880"/>
            <a:ext cx="3840480" cy="64008"/>
          </a:xfrm>
          <a:prstGeom prst="rect">
            <a:avLst/>
          </a:prstGeom>
          <a:solidFill>
            <a:srgbClr val="02809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6304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51560" y="148132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Clyvo Saúde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48640" y="201168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Assinatura mensal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 consulta de rotina/mês incluída
</a:t>
            </a:r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Check-in de saúde com relatório digital
</a:t>
            </a:r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Gamificação: Passaporte de Saúde
</a:t>
            </a:r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(10 carimbos = recompensa)
</a:t>
            </a:r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planos: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Basic: consulta + descontos
</a:t>
            </a:r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Premium: consulta + exames + frete grátis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663440" y="1325880"/>
            <a:ext cx="384048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663440" y="1325880"/>
            <a:ext cx="3840480" cy="64008"/>
          </a:xfrm>
          <a:prstGeom prst="rect">
            <a:avLst/>
          </a:prstGeom>
          <a:solidFill>
            <a:srgbClr val="02C39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46304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349240" y="148132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Pet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800600" y="2011680"/>
            <a:ext cx="3520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Compras integradas ao histórico clínico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Medicamentos prescritos aparecem
  automaticamente na seção 'Recomendados'
</a:t>
            </a:r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Ração, produtos e acessórios com entrega
</a:t>
            </a:r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Recorrência automática (ração/remédio crônico)
</a:t>
            </a:r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Benefícios do plano: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Descontos exclusivos para assinantes
</a:t>
            </a:r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Frete grátis no plano Premium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 &amp; Requisitos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1005840"/>
            <a:ext cx="3840480" cy="3840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02920" y="10972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02920" y="1600200"/>
            <a:ext cx="3566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Aumentar a recorrência das visitas clínicas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Fidelizar tutores por meio de valor percebido contínuo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Gerar histórico longitudinal estruturado de saúde do pet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Monetizar a base via assinatura e marketplace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Elevar o LTV por animal nas clínicas parceiras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663440" y="1005840"/>
            <a:ext cx="3840480" cy="3840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00600" y="10972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Funcionalidades-Chave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800600" y="1600200"/>
            <a:ext cx="3566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App mobile + web responsivo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Cadastro e perfil do pet (espécie, raça, idade)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Gestão de plano de assinatura (Basic/Premium)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Passaporte de Saúde com gamificação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Catálogo do marketplace integrado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Recomendação automática via histórico clínico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Entrega recorrente de produtos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Painel da clínica parceira (dados e alertas)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competitiva das principais soluções do mercado pet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188720"/>
          <a:ext cx="8412480" cy="3657600"/>
        </p:xfrm>
        <a:graphic>
          <a:graphicData uri="http://schemas.openxmlformats.org/drawingml/2006/table">
            <a:tbl>
              <a:tblPr/>
              <a:tblGrid>
                <a:gridCol w="1920240"/>
                <a:gridCol w="1737360"/>
                <a:gridCol w="1554480"/>
                <a:gridCol w="1828800"/>
                <a:gridCol w="1371600"/>
              </a:tblGrid>
              <a:tr h="609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Solução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Plano/Assinatura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Marketplace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IA/Personalização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Foco Clínico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PetLove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Não possui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Completo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Parcial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Fraco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Cobasi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Não possui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Completo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Não possui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Fraco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VetSmart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Telemedicina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Não possui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Não possui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Forte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Vetus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Parcial (clínica)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Não possui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Não possui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Forte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D1B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Clyvo VET*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9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D1B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Básico + Premium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9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D1B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Integrado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9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D1B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Prescritivo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9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D1B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Forte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9F5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65760" y="4846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Proposta do grupo — Sprint 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Diferenciais Competitivos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1005840"/>
            <a:ext cx="265176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88720"/>
            <a:ext cx="365760" cy="365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60120" y="11430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Clínico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457200" y="1664208"/>
            <a:ext cx="2468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Diferente do PetLove, os produtos recomendados são baseados no histórico clínico e nas prescrições do veterinário — não apenas em anúncios.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3200400" y="1005840"/>
            <a:ext cx="265176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188720"/>
            <a:ext cx="365760" cy="3657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794760" y="11430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Passaporte de Saúde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3291840" y="1664208"/>
            <a:ext cx="2468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Gamificação que incentiva o tutor a manter a rotina preventiva, gerando dados longitudinais valiosos para a clínica.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6035040" y="1005840"/>
            <a:ext cx="265176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188720"/>
            <a:ext cx="365760" cy="3657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629400" y="11430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Duplo Valor (B2C + B2B)</a:t>
            </a:r>
            <a:endParaRPr lang="en-US" sz="1150" dirty="0"/>
          </a:p>
        </p:txBody>
      </p:sp>
      <p:sp>
        <p:nvSpPr>
          <p:cNvPr id="14" name="Text 9"/>
          <p:cNvSpPr/>
          <p:nvPr/>
        </p:nvSpPr>
        <p:spPr>
          <a:xfrm>
            <a:off x="6126480" y="1664208"/>
            <a:ext cx="2468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tutor tem conveniência e saúde contínua. A clínica tem recorrência, LTV elevado e acesso ao histórico do paciente.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365760" y="2971800"/>
            <a:ext cx="265176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154680"/>
            <a:ext cx="365760" cy="36576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960120" y="310896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Recorrência Automática</a:t>
            </a:r>
            <a:endParaRPr lang="en-US" sz="1150" dirty="0"/>
          </a:p>
        </p:txBody>
      </p:sp>
      <p:sp>
        <p:nvSpPr>
          <p:cNvPr id="18" name="Text 12"/>
          <p:cNvSpPr/>
          <p:nvPr/>
        </p:nvSpPr>
        <p:spPr>
          <a:xfrm>
            <a:off x="457200" y="3630168"/>
            <a:ext cx="2468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mensal automática de ração e medicamentos crônicos resolve o esquecimento — problema central do desafio Clyvo.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3200400" y="2971800"/>
            <a:ext cx="265176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7560" y="3154680"/>
            <a:ext cx="365760" cy="36576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3794760" y="310896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Escalável</a:t>
            </a:r>
            <a:endParaRPr lang="en-US" sz="1150" dirty="0"/>
          </a:p>
        </p:txBody>
      </p:sp>
      <p:sp>
        <p:nvSpPr>
          <p:cNvPr id="22" name="Text 15"/>
          <p:cNvSpPr/>
          <p:nvPr/>
        </p:nvSpPr>
        <p:spPr>
          <a:xfrm>
            <a:off x="3291840" y="3630168"/>
            <a:ext cx="2468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preparada para crescer: novas clínicas parceiras se integram sem custo marginal, ampliando a rede organicamente.</a:t>
            </a:r>
            <a:endParaRPr lang="en-US" sz="1050" dirty="0"/>
          </a:p>
        </p:txBody>
      </p:sp>
      <p:sp>
        <p:nvSpPr>
          <p:cNvPr id="23" name="Shape 16"/>
          <p:cNvSpPr/>
          <p:nvPr/>
        </p:nvSpPr>
        <p:spPr>
          <a:xfrm>
            <a:off x="6035040" y="2971800"/>
            <a:ext cx="265176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72200" y="3154680"/>
            <a:ext cx="365760" cy="36576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6629400" y="310896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Prescritiva (Fase 2)</a:t>
            </a:r>
            <a:endParaRPr lang="en-US" sz="1150" dirty="0"/>
          </a:p>
        </p:txBody>
      </p:sp>
      <p:sp>
        <p:nvSpPr>
          <p:cNvPr id="26" name="Text 18"/>
          <p:cNvSpPr/>
          <p:nvPr/>
        </p:nvSpPr>
        <p:spPr>
          <a:xfrm>
            <a:off x="6126480" y="3630168"/>
            <a:ext cx="2468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dados gerada na Fase 1 alimentará score de risco e alertas preditivos, criando um moat competitivo difícil de replicar.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do Projeto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1005840"/>
            <a:ext cx="2651760" cy="3886200"/>
          </a:xfrm>
          <a:prstGeom prst="rect">
            <a:avLst/>
          </a:prstGeom>
          <a:solidFill>
            <a:srgbClr val="FFFFFF">
              <a:alpha val="7000"/>
            </a:srgbClr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005840"/>
            <a:ext cx="2651760" cy="50292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0058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1 &amp; 2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5727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1º Semestre — Entrega: 24/05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2920" y="2011680"/>
            <a:ext cx="2423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Pitch + Arquitetura TOGAF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API REST (.NET) com CRUD completo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App mobile (React Native) — protótipo funcional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Banco de dados Oracle modelado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Deploy em nuvem Azure com Docker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Protótipo IoT/Visão Computacional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00400" y="1005840"/>
            <a:ext cx="2651760" cy="3886200"/>
          </a:xfrm>
          <a:prstGeom prst="rect">
            <a:avLst/>
          </a:prstGeom>
          <a:solidFill>
            <a:srgbClr val="FFFFFF">
              <a:alpha val="7000"/>
            </a:srgbClr>
          </a:solidFill>
          <a:ln w="19050">
            <a:solidFill>
              <a:srgbClr val="5B8D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1005840"/>
            <a:ext cx="2651760" cy="502920"/>
          </a:xfrm>
          <a:prstGeom prst="rect">
            <a:avLst/>
          </a:prstGeom>
          <a:solidFill>
            <a:srgbClr val="5B8DD9"/>
          </a:solidFill>
          <a:ln/>
        </p:spPr>
      </p:sp>
      <p:sp>
        <p:nvSpPr>
          <p:cNvPr id="10" name="Text 8"/>
          <p:cNvSpPr/>
          <p:nvPr/>
        </p:nvSpPr>
        <p:spPr>
          <a:xfrm>
            <a:off x="3291840" y="10058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291840" y="15727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2º Semestre — evolução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337560" y="2011680"/>
            <a:ext cx="2423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Integração completa (Front, Back, BD, Azure)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Aprimoramento de Back-end e Front-end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Início do chatbot (WhatsApp/Telegram)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Aprimoramento do protótipo IoT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Aprimoramento do Marketplace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35040" y="1005840"/>
            <a:ext cx="2651760" cy="3886200"/>
          </a:xfrm>
          <a:prstGeom prst="rect">
            <a:avLst/>
          </a:prstGeom>
          <a:solidFill>
            <a:srgbClr val="FFFFFF">
              <a:alpha val="7000"/>
            </a:srgbClr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5040" y="1005840"/>
            <a:ext cx="2651760" cy="50292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0" y="10058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126480" y="15727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2º Semestre — produto final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172200" y="2011680"/>
            <a:ext cx="2423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Finalização de todo o sistema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Versão final do IoT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Integração completa do chatbot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Possível implementação de IA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Aprimoramento contínuo do Marketplace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028090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>
            <a:off x="7132320" y="365760"/>
            <a:ext cx="1645920" cy="1645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82296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Obrigado!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457200" y="178308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Clyvo VET — Saúde contínua para quem você ama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57200" y="2377440"/>
            <a:ext cx="3200400" cy="36576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2560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FIAP 2026 — Sprint 1 | QA &amp; Compliance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Repositório: https://github.com/FeKiModesto/Clyvo-Vet-QA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Clyvo VET — Pitch Sprint 1</dc:title>
  <dc:subject>PptxGenJS Presentation</dc:subject>
  <dc:creator>PptxGenJS</dc:creator>
  <cp:lastModifiedBy>PptxGenJS</cp:lastModifiedBy>
  <cp:revision>1</cp:revision>
  <dcterms:created xsi:type="dcterms:W3CDTF">2026-05-09T15:32:01Z</dcterms:created>
  <dcterms:modified xsi:type="dcterms:W3CDTF">2026-05-09T15:32:01Z</dcterms:modified>
</cp:coreProperties>
</file>